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066fecb-b32c-e5aa-a478-cfb12deda79b}">
          <p14:sldIdLst>
            <p14:sldId id="256"/>
            <p14:sldId id="257"/>
            <p14:sldId id="258"/>
            <p14:sldId id="259"/>
            <p14:sldId id="260"/>
          </p14:sldIdLst>
        </p14:section>
        <p14:section name="Worked example" id="{53f5a162-a2d0-a157-b6e3-67d502cf2ce3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Results and next steps" id="{e0a16505-0486-d720-4150-7628a069e28d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tool: a phone-based calculator that does the full cement job calculation for the wellsite PE and produces the job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idea, one objective, and where it stands: built, tested against a real job, ready to pilot. The request is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handwritten sheet for a 9-5/8 inch job. Many steps, easy to round, and the displacement depends on using the right casing capacity. Excel exists but needs a laptop and gives no schematic or record per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goals: faster, accurate, standard, documented, recorded and private.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 enters what is in the cement program; the tool does every calculation and produces the schematic and the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a step-by-step run of the tool using the numbers from the real handwritten sheet, under a demo well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one: type a code name and create the well. It is saved in the history on the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exactly the numbers on the handwritten sheet. The casing capacity comes from the PDO data sheet; the annulus was typed as 29.10 to match the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schematic draws itself once the data is in. Each section shows its depth subtraction, capacity and excess. Total 8.84 cubic metres.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Displacement is to the float collar. The cement unit volume is taken off, and the rest gives the rig pump strokes the driller counts: 2,145.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Dry cement from the slurry volume and yield; mix fluid and plain mix water; additives entered straight from the program, including percent BWOC.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output: an A4 job sheet that the supervisor or the cementing contractor can check line by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inputs, same method. The tool matches the hand sheet; the displacement difference is the casing capacity — the PDO sheet value for 36# — plus rounding on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Speed, accuracy, a clear job sheet, zero cost — plus safety, a standard method and data privacy.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ask: approve a pilot on the next cement job and IT support to host the tool internally.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offer a live demo: create a new well and enter the numbers in front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583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65836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A55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Cement Job Tool  ·  Mohammed Al Araimi  ·  MU67673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Cement Job Tool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 mobile cement calculation platform for the wellsite PE</a:t>
            </a:r>
            <a:endParaRPr lang="en-US" sz="2000" dirty="0"/>
          </a:p>
        </p:txBody>
      </p:sp>
      <p:sp>
        <p:nvSpPr>
          <p:cNvPr id="4" name="author"/>
          <p:cNvSpPr txBox="1"/>
          <p:nvPr/>
        </p:nvSpPr>
        <p:spPr>
          <a:xfrm>
            <a:off x="640080" y="5120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Created by Mohammed Al Araimi  ·  MU67673</a:t>
            </a:r>
            <a:endParaRPr lang="en-US" sz="1600" dirty="0"/>
          </a:p>
        </p:txBody>
      </p:sp>
      <p:sp>
        <p:nvSpPr>
          <p:cNvPr id="5" name="phone frame"/>
          <p:cNvSpPr/>
          <p:nvPr/>
        </p:nvSpPr>
        <p:spPr>
          <a:xfrm>
            <a:off x="8001000" y="731520"/>
            <a:ext cx="3566160" cy="5394960"/>
          </a:xfrm>
          <a:prstGeom prst="roundRect">
            <a:avLst>
              <a:gd name="adj" fmla="val 5128"/>
            </a:avLst>
          </a:prstGeom>
          <a:solidFill>
            <a:srgbClr val="EDE3D8"/>
          </a:solidFill>
          <a:ln w="12700">
            <a:solidFill>
              <a:srgbClr val="EDE3D8"/>
            </a:solidFill>
            <a:prstDash val="solid"/>
          </a:ln>
        </p:spPr>
      </p:sp>
      <p:pic>
        <p:nvPicPr>
          <p:cNvPr id="6" name="home screenshot" descr="Home screen of the Cement Job tool with the well his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18846"/>
            <a:ext cx="3291840" cy="42203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3" name="summary card 1"/>
          <p:cNvSpPr/>
          <p:nvPr/>
        </p:nvSpPr>
        <p:spPr>
          <a:xfrm>
            <a:off x="548640" y="1463040"/>
            <a:ext cx="3520440" cy="3383280"/>
          </a:xfrm>
          <a:prstGeom prst="roundRect">
            <a:avLst>
              <a:gd name="adj" fmla="val 40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ummary icon circle"/>
          <p:cNvSpPr/>
          <p:nvPr/>
        </p:nvSpPr>
        <p:spPr>
          <a:xfrm>
            <a:off x="914400" y="182880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summar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029968"/>
            <a:ext cx="420624" cy="420624"/>
          </a:xfrm>
          <a:prstGeom prst="rect">
            <a:avLst/>
          </a:prstGeom>
        </p:spPr>
      </p:pic>
      <p:sp>
        <p:nvSpPr>
          <p:cNvPr id="6" name="summary title"/>
          <p:cNvSpPr txBox="1"/>
          <p:nvPr/>
        </p:nvSpPr>
        <p:spPr>
          <a:xfrm>
            <a:off x="914400" y="2880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2200" dirty="0"/>
          </a:p>
        </p:txBody>
      </p:sp>
      <p:sp>
        <p:nvSpPr>
          <p:cNvPr id="7" name="summary text"/>
          <p:cNvSpPr txBox="1"/>
          <p:nvPr/>
        </p:nvSpPr>
        <p:spPr>
          <a:xfrm>
            <a:off x="914400" y="342900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phone tool that does the full cement job calculation for the wellsite PE and prints a one-page job sheet.</a:t>
            </a:r>
            <a:endParaRPr lang="en-US" sz="1600" dirty="0"/>
          </a:p>
        </p:txBody>
      </p:sp>
      <p:sp>
        <p:nvSpPr>
          <p:cNvPr id="8" name="summary card 2"/>
          <p:cNvSpPr/>
          <p:nvPr/>
        </p:nvSpPr>
        <p:spPr>
          <a:xfrm>
            <a:off x="4297680" y="1463040"/>
            <a:ext cx="3520440" cy="3383280"/>
          </a:xfrm>
          <a:prstGeom prst="roundRect">
            <a:avLst>
              <a:gd name="adj" fmla="val 40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ummary icon circle"/>
          <p:cNvSpPr/>
          <p:nvPr/>
        </p:nvSpPr>
        <p:spPr>
          <a:xfrm>
            <a:off x="4663440" y="182880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summary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029968"/>
            <a:ext cx="420624" cy="420624"/>
          </a:xfrm>
          <a:prstGeom prst="rect">
            <a:avLst/>
          </a:prstGeom>
        </p:spPr>
      </p:pic>
      <p:sp>
        <p:nvSpPr>
          <p:cNvPr id="11" name="summary title"/>
          <p:cNvSpPr txBox="1"/>
          <p:nvPr/>
        </p:nvSpPr>
        <p:spPr>
          <a:xfrm>
            <a:off x="4663440" y="2880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objective</a:t>
            </a:r>
            <a:endParaRPr lang="en-US" sz="2200" dirty="0"/>
          </a:p>
        </p:txBody>
      </p:sp>
      <p:sp>
        <p:nvSpPr>
          <p:cNvPr id="12" name="summary text"/>
          <p:cNvSpPr txBox="1"/>
          <p:nvPr/>
        </p:nvSpPr>
        <p:spPr>
          <a:xfrm>
            <a:off x="4663440" y="342900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Faster, more accurate and standard cement calculations on every job, with a saved record.</a:t>
            </a:r>
            <a:endParaRPr lang="en-US" sz="1600" dirty="0"/>
          </a:p>
        </p:txBody>
      </p:sp>
      <p:sp>
        <p:nvSpPr>
          <p:cNvPr id="13" name="summary card 3"/>
          <p:cNvSpPr/>
          <p:nvPr/>
        </p:nvSpPr>
        <p:spPr>
          <a:xfrm>
            <a:off x="8046720" y="1463040"/>
            <a:ext cx="3520440" cy="3383280"/>
          </a:xfrm>
          <a:prstGeom prst="roundRect">
            <a:avLst>
              <a:gd name="adj" fmla="val 40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ummary icon circle"/>
          <p:cNvSpPr/>
          <p:nvPr/>
        </p:nvSpPr>
        <p:spPr>
          <a:xfrm>
            <a:off x="8412480" y="182880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summar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029968"/>
            <a:ext cx="420624" cy="420624"/>
          </a:xfrm>
          <a:prstGeom prst="rect">
            <a:avLst/>
          </a:prstGeom>
        </p:spPr>
      </p:pic>
      <p:sp>
        <p:nvSpPr>
          <p:cNvPr id="16" name="summary title"/>
          <p:cNvSpPr txBox="1"/>
          <p:nvPr/>
        </p:nvSpPr>
        <p:spPr>
          <a:xfrm>
            <a:off x="8412480" y="2880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today</a:t>
            </a:r>
            <a:endParaRPr lang="en-US" sz="2200" dirty="0"/>
          </a:p>
        </p:txBody>
      </p:sp>
      <p:sp>
        <p:nvSpPr>
          <p:cNvPr id="17" name="summary text"/>
          <p:cNvSpPr txBox="1"/>
          <p:nvPr/>
        </p:nvSpPr>
        <p:spPr>
          <a:xfrm>
            <a:off x="8412480" y="342900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Built and tested against a real 9⅝‑in cement job hand calculation. Ready for a pilot on the next job.</a:t>
            </a:r>
            <a:endParaRPr lang="en-US" sz="1600" dirty="0"/>
          </a:p>
        </p:txBody>
      </p:sp>
      <p:sp>
        <p:nvSpPr>
          <p:cNvPr id="18" name="request box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request text"/>
          <p:cNvSpPr txBox="1"/>
          <p:nvPr/>
        </p:nvSpPr>
        <p:spPr>
          <a:xfrm>
            <a:off x="822960" y="5166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Request: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approval for a pilot on the next cement job, and IT support to host the tool internally.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Today: cement calculations are done by hand</a:t>
            </a:r>
            <a:endParaRPr lang="en-US" sz="3200" dirty="0"/>
          </a:p>
        </p:txBody>
      </p:sp>
      <p:sp>
        <p:nvSpPr>
          <p:cNvPr id="3" name="Handwritten 9-5/8 inch cement calculation sheet frame"/>
          <p:cNvSpPr/>
          <p:nvPr/>
        </p:nvSpPr>
        <p:spPr>
          <a:xfrm>
            <a:off x="548640" y="1325880"/>
            <a:ext cx="3566160" cy="47548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Handwritten 9-5/8 inch cement calculation sheet" descr="Handwritten 9-5/8 inch cement calculation she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72184"/>
            <a:ext cx="3346704" cy="4462272"/>
          </a:xfrm>
          <a:prstGeom prst="rect">
            <a:avLst/>
          </a:prstGeom>
        </p:spPr>
      </p:pic>
      <p:sp>
        <p:nvSpPr>
          <p:cNvPr id="5" name="problem card 1"/>
          <p:cNvSpPr/>
          <p:nvPr/>
        </p:nvSpPr>
        <p:spPr>
          <a:xfrm>
            <a:off x="4434840" y="1325880"/>
            <a:ext cx="7178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roblem title"/>
          <p:cNvSpPr txBox="1"/>
          <p:nvPr/>
        </p:nvSpPr>
        <p:spPr>
          <a:xfrm>
            <a:off x="4709160" y="1490472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Many manual steps</a:t>
            </a:r>
            <a:endParaRPr lang="en-US" sz="1800" dirty="0"/>
          </a:p>
        </p:txBody>
      </p:sp>
      <p:sp>
        <p:nvSpPr>
          <p:cNvPr id="7" name="problem text"/>
          <p:cNvSpPr txBox="1"/>
          <p:nvPr/>
        </p:nvSpPr>
        <p:spPr>
          <a:xfrm>
            <a:off x="4709160" y="1892808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Capacities, section volumes with excess, dry cement, mix water, additives, displacement and strokes.</a:t>
            </a:r>
            <a:endParaRPr lang="en-US" sz="1500" dirty="0"/>
          </a:p>
        </p:txBody>
      </p:sp>
      <p:sp>
        <p:nvSpPr>
          <p:cNvPr id="8" name="problem card 2"/>
          <p:cNvSpPr/>
          <p:nvPr/>
        </p:nvSpPr>
        <p:spPr>
          <a:xfrm>
            <a:off x="4434840" y="2953512"/>
            <a:ext cx="7178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roblem title"/>
          <p:cNvSpPr txBox="1"/>
          <p:nvPr/>
        </p:nvSpPr>
        <p:spPr>
          <a:xfrm>
            <a:off x="4709160" y="3118104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Errors creep in</a:t>
            </a:r>
            <a:endParaRPr lang="en-US" sz="1800" dirty="0"/>
          </a:p>
        </p:txBody>
      </p:sp>
      <p:sp>
        <p:nvSpPr>
          <p:cNvPr id="10" name="problem text"/>
          <p:cNvSpPr txBox="1"/>
          <p:nvPr/>
        </p:nvSpPr>
        <p:spPr>
          <a:xfrm>
            <a:off x="4709160" y="352044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Rounded depths (shoe track 13.5 m vs 14.1 m) and the wrong casing capacity (39.55 vs 40.32 L/m) shift displacement by ~0.6 m³ — about 43 strokes.</a:t>
            </a:r>
            <a:endParaRPr lang="en-US" sz="1500" dirty="0"/>
          </a:p>
        </p:txBody>
      </p:sp>
      <p:sp>
        <p:nvSpPr>
          <p:cNvPr id="11" name="problem card 3"/>
          <p:cNvSpPr/>
          <p:nvPr/>
        </p:nvSpPr>
        <p:spPr>
          <a:xfrm>
            <a:off x="4434840" y="4581144"/>
            <a:ext cx="7178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roblem title"/>
          <p:cNvSpPr txBox="1"/>
          <p:nvPr/>
        </p:nvSpPr>
        <p:spPr>
          <a:xfrm>
            <a:off x="4709160" y="474573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Excel needs a laptop</a:t>
            </a:r>
            <a:endParaRPr lang="en-US" sz="1800" dirty="0"/>
          </a:p>
        </p:txBody>
      </p:sp>
      <p:sp>
        <p:nvSpPr>
          <p:cNvPr id="13" name="problem text"/>
          <p:cNvSpPr txBox="1"/>
          <p:nvPr/>
        </p:nvSpPr>
        <p:spPr>
          <a:xfrm>
            <a:off x="4709160" y="5148072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Excel sheet is not practical on the rig floor or phone, has no schematic, and keeps no clear record per well.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Objective: the right numbers, fast, every time</a:t>
            </a:r>
            <a:endParaRPr lang="en-US" sz="3200" dirty="0"/>
          </a:p>
        </p:txBody>
      </p:sp>
      <p:sp>
        <p:nvSpPr>
          <p:cNvPr id="3" name="goal Faster circle"/>
          <p:cNvSpPr/>
          <p:nvPr/>
        </p:nvSpPr>
        <p:spPr>
          <a:xfrm>
            <a:off x="548640" y="1554480"/>
            <a:ext cx="914400" cy="914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goal Fast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83080"/>
            <a:ext cx="457200" cy="457200"/>
          </a:xfrm>
          <a:prstGeom prst="rect">
            <a:avLst/>
          </a:prstGeom>
        </p:spPr>
      </p:pic>
      <p:sp>
        <p:nvSpPr>
          <p:cNvPr id="5" name="goal title"/>
          <p:cNvSpPr txBox="1"/>
          <p:nvPr/>
        </p:nvSpPr>
        <p:spPr>
          <a:xfrm>
            <a:off x="169164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2000" dirty="0"/>
          </a:p>
        </p:txBody>
      </p:sp>
      <p:sp>
        <p:nvSpPr>
          <p:cNvPr id="6" name="goal text"/>
          <p:cNvSpPr txBox="1"/>
          <p:nvPr/>
        </p:nvSpPr>
        <p:spPr>
          <a:xfrm>
            <a:off x="1691640" y="202996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Full calculation in minutes on the phone</a:t>
            </a:r>
            <a:endParaRPr lang="en-US" sz="1500" dirty="0"/>
          </a:p>
        </p:txBody>
      </p:sp>
      <p:sp>
        <p:nvSpPr>
          <p:cNvPr id="7" name="goal Accurate circle"/>
          <p:cNvSpPr/>
          <p:nvPr/>
        </p:nvSpPr>
        <p:spPr>
          <a:xfrm>
            <a:off x="4297680" y="1554480"/>
            <a:ext cx="914400" cy="914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goal Accurat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783080"/>
            <a:ext cx="457200" cy="457200"/>
          </a:xfrm>
          <a:prstGeom prst="rect">
            <a:avLst/>
          </a:prstGeom>
        </p:spPr>
      </p:pic>
      <p:sp>
        <p:nvSpPr>
          <p:cNvPr id="9" name="goal title"/>
          <p:cNvSpPr txBox="1"/>
          <p:nvPr/>
        </p:nvSpPr>
        <p:spPr>
          <a:xfrm>
            <a:off x="544068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</a:t>
            </a:r>
            <a:endParaRPr lang="en-US" sz="2000" dirty="0"/>
          </a:p>
        </p:txBody>
      </p:sp>
      <p:sp>
        <p:nvSpPr>
          <p:cNvPr id="10" name="goal text"/>
          <p:cNvSpPr txBox="1"/>
          <p:nvPr/>
        </p:nvSpPr>
        <p:spPr>
          <a:xfrm>
            <a:off x="5440680" y="202996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Exact depths and PDO casing data, no rounding</a:t>
            </a:r>
            <a:endParaRPr lang="en-US" sz="1500" dirty="0"/>
          </a:p>
        </p:txBody>
      </p:sp>
      <p:sp>
        <p:nvSpPr>
          <p:cNvPr id="11" name="goal Standard circle"/>
          <p:cNvSpPr/>
          <p:nvPr/>
        </p:nvSpPr>
        <p:spPr>
          <a:xfrm>
            <a:off x="8046720" y="1554480"/>
            <a:ext cx="914400" cy="914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goal Standard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783080"/>
            <a:ext cx="457200" cy="457200"/>
          </a:xfrm>
          <a:prstGeom prst="rect">
            <a:avLst/>
          </a:prstGeom>
        </p:spPr>
      </p:pic>
      <p:sp>
        <p:nvSpPr>
          <p:cNvPr id="13" name="goal title"/>
          <p:cNvSpPr txBox="1"/>
          <p:nvPr/>
        </p:nvSpPr>
        <p:spPr>
          <a:xfrm>
            <a:off x="918972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</a:t>
            </a:r>
            <a:endParaRPr lang="en-US" sz="2000" dirty="0"/>
          </a:p>
        </p:txBody>
      </p:sp>
      <p:sp>
        <p:nvSpPr>
          <p:cNvPr id="14" name="goal text"/>
          <p:cNvSpPr txBox="1"/>
          <p:nvPr/>
        </p:nvSpPr>
        <p:spPr>
          <a:xfrm>
            <a:off x="9189720" y="202996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Same method and layout for every job and PE</a:t>
            </a:r>
            <a:endParaRPr lang="en-US" sz="1500" dirty="0"/>
          </a:p>
        </p:txBody>
      </p:sp>
      <p:sp>
        <p:nvSpPr>
          <p:cNvPr id="15" name="goal Documented circle"/>
          <p:cNvSpPr/>
          <p:nvPr/>
        </p:nvSpPr>
        <p:spPr>
          <a:xfrm>
            <a:off x="548640" y="3886200"/>
            <a:ext cx="914400" cy="914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goal Documente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14800"/>
            <a:ext cx="457200" cy="457200"/>
          </a:xfrm>
          <a:prstGeom prst="rect">
            <a:avLst/>
          </a:prstGeom>
        </p:spPr>
      </p:pic>
      <p:sp>
        <p:nvSpPr>
          <p:cNvPr id="17" name="goal title"/>
          <p:cNvSpPr txBox="1"/>
          <p:nvPr/>
        </p:nvSpPr>
        <p:spPr>
          <a:xfrm>
            <a:off x="1691640" y="3931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Documented</a:t>
            </a:r>
            <a:endParaRPr lang="en-US" sz="2000" dirty="0"/>
          </a:p>
        </p:txBody>
      </p:sp>
      <p:sp>
        <p:nvSpPr>
          <p:cNvPr id="18" name="goal text"/>
          <p:cNvSpPr txBox="1"/>
          <p:nvPr/>
        </p:nvSpPr>
        <p:spPr>
          <a:xfrm>
            <a:off x="1691640" y="43616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One-page PDF job sheet with every step shown</a:t>
            </a:r>
            <a:endParaRPr lang="en-US" sz="1500" dirty="0"/>
          </a:p>
        </p:txBody>
      </p:sp>
      <p:sp>
        <p:nvSpPr>
          <p:cNvPr id="19" name="goal Recorded circle"/>
          <p:cNvSpPr/>
          <p:nvPr/>
        </p:nvSpPr>
        <p:spPr>
          <a:xfrm>
            <a:off x="4297680" y="3886200"/>
            <a:ext cx="914400" cy="914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0" name="goal Recorded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4114800"/>
            <a:ext cx="457200" cy="457200"/>
          </a:xfrm>
          <a:prstGeom prst="rect">
            <a:avLst/>
          </a:prstGeom>
        </p:spPr>
      </p:pic>
      <p:sp>
        <p:nvSpPr>
          <p:cNvPr id="21" name="goal title"/>
          <p:cNvSpPr txBox="1"/>
          <p:nvPr/>
        </p:nvSpPr>
        <p:spPr>
          <a:xfrm>
            <a:off x="5440680" y="3931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Recorded</a:t>
            </a:r>
            <a:endParaRPr lang="en-US" sz="2000" dirty="0"/>
          </a:p>
        </p:txBody>
      </p:sp>
      <p:sp>
        <p:nvSpPr>
          <p:cNvPr id="22" name="goal text"/>
          <p:cNvSpPr txBox="1"/>
          <p:nvPr/>
        </p:nvSpPr>
        <p:spPr>
          <a:xfrm>
            <a:off x="5440680" y="43616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Every well saved in a history list</a:t>
            </a:r>
            <a:endParaRPr lang="en-US" sz="1500" dirty="0"/>
          </a:p>
        </p:txBody>
      </p:sp>
      <p:sp>
        <p:nvSpPr>
          <p:cNvPr id="23" name="goal Private circle"/>
          <p:cNvSpPr/>
          <p:nvPr/>
        </p:nvSpPr>
        <p:spPr>
          <a:xfrm>
            <a:off x="8046720" y="3886200"/>
            <a:ext cx="914400" cy="9144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4" name="goal Private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4114800"/>
            <a:ext cx="457200" cy="457200"/>
          </a:xfrm>
          <a:prstGeom prst="rect">
            <a:avLst/>
          </a:prstGeom>
        </p:spPr>
      </p:pic>
      <p:sp>
        <p:nvSpPr>
          <p:cNvPr id="25" name="goal title"/>
          <p:cNvSpPr txBox="1"/>
          <p:nvPr/>
        </p:nvSpPr>
        <p:spPr>
          <a:xfrm>
            <a:off x="9189720" y="3931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</a:t>
            </a:r>
            <a:endParaRPr lang="en-US" sz="2000" dirty="0"/>
          </a:p>
        </p:txBody>
      </p:sp>
      <p:sp>
        <p:nvSpPr>
          <p:cNvPr id="26" name="goal text"/>
          <p:cNvSpPr txBox="1"/>
          <p:nvPr/>
        </p:nvSpPr>
        <p:spPr>
          <a:xfrm>
            <a:off x="9189720" y="43616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Data stays on the phone; wells use code names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it works: enter once, everything else is calculated</a:t>
            </a:r>
            <a:endParaRPr lang="en-US" sz="3200" dirty="0"/>
          </a:p>
        </p:txBody>
      </p:sp>
      <p:sp>
        <p:nvSpPr>
          <p:cNvPr id="3" name="flow card 1"/>
          <p:cNvSpPr/>
          <p:nvPr/>
        </p:nvSpPr>
        <p:spPr>
          <a:xfrm>
            <a:off x="548640" y="1417320"/>
            <a:ext cx="3429000" cy="47091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low icon circle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solidFill>
            <a:srgbClr val="A5511F"/>
          </a:solidFill>
          <a:ln w="12700">
            <a:solidFill>
              <a:srgbClr val="A5511F"/>
            </a:solidFill>
            <a:prstDash val="solid"/>
          </a:ln>
        </p:spPr>
      </p:sp>
      <p:pic>
        <p:nvPicPr>
          <p:cNvPr id="5" name="flow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74520"/>
            <a:ext cx="365760" cy="365760"/>
          </a:xfrm>
          <a:prstGeom prst="rect">
            <a:avLst/>
          </a:prstGeom>
        </p:spPr>
      </p:pic>
      <p:sp>
        <p:nvSpPr>
          <p:cNvPr id="6" name="flow title"/>
          <p:cNvSpPr txBox="1"/>
          <p:nvPr/>
        </p:nvSpPr>
        <p:spPr>
          <a:xfrm>
            <a:off x="1737360" y="1691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enter</a:t>
            </a:r>
            <a:endParaRPr lang="en-US" sz="2000" dirty="0"/>
          </a:p>
        </p:txBody>
      </p:sp>
      <p:sp>
        <p:nvSpPr>
          <p:cNvPr id="7" name="flow list"/>
          <p:cNvSpPr txBox="1"/>
          <p:nvPr/>
        </p:nvSpPr>
        <p:spPr>
          <a:xfrm>
            <a:off x="868680" y="26517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Casing &amp; hole size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Shoe, float collar, TD, TOC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Excess %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Yield &amp; mix fluid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Additive doses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Cement unit volume &amp; pump output</a:t>
            </a:r>
            <a:endParaRPr lang="en-US" sz="1500" dirty="0"/>
          </a:p>
        </p:txBody>
      </p:sp>
      <p:sp>
        <p:nvSpPr>
          <p:cNvPr id="8" name="flow arrow"/>
          <p:cNvSpPr/>
          <p:nvPr/>
        </p:nvSpPr>
        <p:spPr>
          <a:xfrm>
            <a:off x="4041648" y="3611880"/>
            <a:ext cx="329184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flow card 2"/>
          <p:cNvSpPr/>
          <p:nvPr/>
        </p:nvSpPr>
        <p:spPr>
          <a:xfrm>
            <a:off x="4434840" y="1417320"/>
            <a:ext cx="3429000" cy="4709160"/>
          </a:xfrm>
          <a:prstGeom prst="roundRect">
            <a:avLst>
              <a:gd name="adj" fmla="val 4000"/>
            </a:avLst>
          </a:prstGeom>
          <a:solidFill>
            <a:srgbClr val="A5511F"/>
          </a:solidFill>
          <a:ln w="12700">
            <a:solidFill>
              <a:srgbClr val="A5511F"/>
            </a:solidFill>
            <a:prstDash val="solid"/>
          </a:ln>
        </p:spPr>
      </p:sp>
      <p:sp>
        <p:nvSpPr>
          <p:cNvPr id="10" name="flow icon circle"/>
          <p:cNvSpPr/>
          <p:nvPr/>
        </p:nvSpPr>
        <p:spPr>
          <a:xfrm>
            <a:off x="4754880" y="1691640"/>
            <a:ext cx="731520" cy="731520"/>
          </a:xfrm>
          <a:prstGeom prst="ellipse">
            <a:avLst/>
          </a:prstGeom>
          <a:solidFill>
            <a:srgbClr val="7C3A12"/>
          </a:solidFill>
          <a:ln w="12700">
            <a:solidFill>
              <a:srgbClr val="7C3A12"/>
            </a:solidFill>
            <a:prstDash val="solid"/>
          </a:ln>
        </p:spPr>
      </p:sp>
      <p:pic>
        <p:nvPicPr>
          <p:cNvPr id="11" name="flow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20"/>
            <a:ext cx="365760" cy="365760"/>
          </a:xfrm>
          <a:prstGeom prst="rect">
            <a:avLst/>
          </a:prstGeom>
        </p:spPr>
      </p:pic>
      <p:sp>
        <p:nvSpPr>
          <p:cNvPr id="12" name="flow title"/>
          <p:cNvSpPr txBox="1"/>
          <p:nvPr/>
        </p:nvSpPr>
        <p:spPr>
          <a:xfrm>
            <a:off x="5623560" y="1691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 calculates</a:t>
            </a:r>
            <a:endParaRPr lang="en-US" sz="2000" dirty="0"/>
          </a:p>
        </p:txBody>
      </p:sp>
      <p:sp>
        <p:nvSpPr>
          <p:cNvPr id="13" name="flow list"/>
          <p:cNvSpPr txBox="1"/>
          <p:nvPr/>
        </p:nvSpPr>
        <p:spPr>
          <a:xfrm>
            <a:off x="4754880" y="26517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Capacities (PDO CSG &amp; TBG sheet)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Volume of every section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Total cement &amp; dry cement (MT)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Mix fluid &amp; mix water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Additive quantities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Displacement &amp; rig strokes</a:t>
            </a:r>
            <a:endParaRPr lang="en-US" sz="1500" dirty="0"/>
          </a:p>
        </p:txBody>
      </p:sp>
      <p:sp>
        <p:nvSpPr>
          <p:cNvPr id="14" name="flow arrow"/>
          <p:cNvSpPr/>
          <p:nvPr/>
        </p:nvSpPr>
        <p:spPr>
          <a:xfrm>
            <a:off x="7927848" y="3611880"/>
            <a:ext cx="329184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low card 3"/>
          <p:cNvSpPr/>
          <p:nvPr/>
        </p:nvSpPr>
        <p:spPr>
          <a:xfrm>
            <a:off x="8321040" y="1417320"/>
            <a:ext cx="3429000" cy="47091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flow icon circle"/>
          <p:cNvSpPr/>
          <p:nvPr/>
        </p:nvSpPr>
        <p:spPr>
          <a:xfrm>
            <a:off x="8641080" y="1691640"/>
            <a:ext cx="731520" cy="731520"/>
          </a:xfrm>
          <a:prstGeom prst="ellipse">
            <a:avLst/>
          </a:prstGeom>
          <a:solidFill>
            <a:srgbClr val="A5511F"/>
          </a:solidFill>
          <a:ln w="12700">
            <a:solidFill>
              <a:srgbClr val="A5511F"/>
            </a:solidFill>
            <a:prstDash val="solid"/>
          </a:ln>
        </p:spPr>
      </p:sp>
      <p:pic>
        <p:nvPicPr>
          <p:cNvPr id="17" name="flow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874520"/>
            <a:ext cx="365760" cy="365760"/>
          </a:xfrm>
          <a:prstGeom prst="rect">
            <a:avLst/>
          </a:prstGeom>
        </p:spPr>
      </p:pic>
      <p:sp>
        <p:nvSpPr>
          <p:cNvPr id="18" name="flow title"/>
          <p:cNvSpPr txBox="1"/>
          <p:nvPr/>
        </p:nvSpPr>
        <p:spPr>
          <a:xfrm>
            <a:off x="9509760" y="1691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get</a:t>
            </a:r>
            <a:endParaRPr lang="en-US" sz="2000" dirty="0"/>
          </a:p>
        </p:txBody>
      </p:sp>
      <p:sp>
        <p:nvSpPr>
          <p:cNvPr id="19" name="flow list"/>
          <p:cNvSpPr txBox="1"/>
          <p:nvPr/>
        </p:nvSpPr>
        <p:spPr>
          <a:xfrm>
            <a:off x="8641080" y="265176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Well schematic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Results with the working shown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One-page PDF job sheet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Saved record in history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Works offline on the phone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774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Worked example: a 9⅝‑in casing job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Demo well DEMO-101 — the same numbers as the handwritten sheet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Create the well</a:t>
            </a:r>
            <a:endParaRPr lang="en-US" sz="3200" dirty="0"/>
          </a:p>
        </p:txBody>
      </p:sp>
      <p:sp>
        <p:nvSpPr>
          <p:cNvPr id="3" name="step badge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number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step label"/>
          <p:cNvSpPr txBox="1"/>
          <p:nvPr/>
        </p:nvSpPr>
        <p:spPr>
          <a:xfrm>
            <a:off x="1143000" y="1325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STEP 1 · HOME PAGE</a:t>
            </a:r>
            <a:endParaRPr lang="en-US" sz="1400" dirty="0"/>
          </a:p>
        </p:txBody>
      </p:sp>
      <p:sp>
        <p:nvSpPr>
          <p:cNvPr id="6" name="bullets"/>
          <p:cNvSpPr txBox="1"/>
          <p:nvPr/>
        </p:nvSpPr>
        <p:spPr>
          <a:xfrm>
            <a:off x="548640" y="2057400"/>
            <a:ext cx="47548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Type a well code name — here DEMO-101. The real well name is never used, to protect company data.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Tap Create: the cement page opens.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well is saved in History. Open, rename, duplicate or delete it from the ⋯ menu.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Save a copy / Restore keeps a backup of all wells.</a:t>
            </a:r>
            <a:endParaRPr lang="en-US" sz="1600" dirty="0"/>
          </a:p>
        </p:txBody>
      </p:sp>
      <p:sp>
        <p:nvSpPr>
          <p:cNvPr id="7" name="Home screen with DEMO-101 typed frame"/>
          <p:cNvSpPr/>
          <p:nvPr/>
        </p:nvSpPr>
        <p:spPr>
          <a:xfrm>
            <a:off x="5669280" y="1325880"/>
            <a:ext cx="2880360" cy="29260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Home screen with DEMO-101 typed" descr="Home screen with DEMO-101 typ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447097"/>
            <a:ext cx="2660904" cy="2683647"/>
          </a:xfrm>
          <a:prstGeom prst="rect">
            <a:avLst/>
          </a:prstGeom>
        </p:spPr>
      </p:pic>
      <p:sp>
        <p:nvSpPr>
          <p:cNvPr id="9" name="History list with DEMO-101 saved frame"/>
          <p:cNvSpPr/>
          <p:nvPr/>
        </p:nvSpPr>
        <p:spPr>
          <a:xfrm>
            <a:off x="8732520" y="1325880"/>
            <a:ext cx="2880360" cy="37033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0" name="History list with DEMO-101 saved" descr="History list with DEMO-101 sav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248" y="1471832"/>
            <a:ext cx="2660904" cy="341141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Enter the data from the cement program</a:t>
            </a:r>
            <a:endParaRPr lang="en-US" sz="3200" dirty="0"/>
          </a:p>
        </p:txBody>
      </p:sp>
      <p:sp>
        <p:nvSpPr>
          <p:cNvPr id="3" name="step badge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number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5" name="step label"/>
          <p:cNvSpPr txBox="1"/>
          <p:nvPr/>
        </p:nvSpPr>
        <p:spPr>
          <a:xfrm>
            <a:off x="1143000" y="1325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STEP 2 · INPUTS</a:t>
            </a:r>
            <a:endParaRPr lang="en-US" sz="1400" dirty="0"/>
          </a:p>
        </p:txBody>
      </p:sp>
      <p:graphicFrame>
        <p:nvGraphicFramePr>
          <p:cNvPr id="9" name="inpu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6692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51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51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Casing · single slurry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9⅝‑in 36# (40.32 L/m, PDO sheet)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Shoe / float collar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778 m / 763.9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 / TD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12¼‑in / 782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 annulus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29.10 L/m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578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Open-hole excess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 / mix fluid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0.702 m³/MT / 0.382 m³/MT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Cement unit / rig pump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1.59 m³ / 13.62 L/stk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sing section with shoe and float collar entered frame"/>
          <p:cNvSpPr/>
          <p:nvPr/>
        </p:nvSpPr>
        <p:spPr>
          <a:xfrm>
            <a:off x="6537960" y="1325880"/>
            <a:ext cx="24688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Casing section with shoe and float collar entered" descr="Casing section with shoe and float collar enter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7688" y="1443832"/>
            <a:ext cx="2249424" cy="2004375"/>
          </a:xfrm>
          <a:prstGeom prst="rect">
            <a:avLst/>
          </a:prstGeom>
        </p:spPr>
      </p:pic>
      <p:sp>
        <p:nvSpPr>
          <p:cNvPr id="9" name="Cement program with TOC and excess frame"/>
          <p:cNvSpPr/>
          <p:nvPr/>
        </p:nvSpPr>
        <p:spPr>
          <a:xfrm>
            <a:off x="9144000" y="1325880"/>
            <a:ext cx="24688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0" name="Cement program with TOC and excess" descr="Cement program with TOC and exce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28" y="1484674"/>
            <a:ext cx="2249424" cy="1922692"/>
          </a:xfrm>
          <a:prstGeom prst="rect">
            <a:avLst/>
          </a:prstGeom>
        </p:spPr>
      </p:pic>
      <p:sp>
        <p:nvSpPr>
          <p:cNvPr id="11" name="Open hole section with TD and full-bore capacity frame"/>
          <p:cNvSpPr/>
          <p:nvPr/>
        </p:nvSpPr>
        <p:spPr>
          <a:xfrm>
            <a:off x="6537960" y="3749040"/>
            <a:ext cx="24688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Open hole section with TD and full-bore capacity" descr="Open hole section with TD and full-bore capaci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3878563"/>
            <a:ext cx="2249424" cy="1432594"/>
          </a:xfrm>
          <a:prstGeom prst="rect">
            <a:avLst/>
          </a:prstGeom>
        </p:spPr>
      </p:pic>
      <p:sp>
        <p:nvSpPr>
          <p:cNvPr id="13" name="capacity note"/>
          <p:cNvSpPr txBox="1"/>
          <p:nvPr/>
        </p:nvSpPr>
        <p:spPr>
          <a:xfrm>
            <a:off x="9144000" y="374904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Capacities fill in from the PDO CSG &amp; TBG sheet. A typed value (e.g. 29.10 from the program) overrides it and turns green.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Schematic and cement volumes appear</a:t>
            </a:r>
            <a:endParaRPr lang="en-US" sz="3200" dirty="0"/>
          </a:p>
        </p:txBody>
      </p:sp>
      <p:sp>
        <p:nvSpPr>
          <p:cNvPr id="3" name="step badge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number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5" name="step label"/>
          <p:cNvSpPr txBox="1"/>
          <p:nvPr/>
        </p:nvSpPr>
        <p:spPr>
          <a:xfrm>
            <a:off x="1143000" y="1325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STEP 3 · VOLUMES</a:t>
            </a:r>
            <a:endParaRPr lang="en-US" sz="1400" dirty="0"/>
          </a:p>
        </p:txBody>
      </p:sp>
      <p:sp>
        <p:nvSpPr>
          <p:cNvPr id="6" name="volume label"/>
          <p:cNvSpPr txBox="1"/>
          <p:nvPr/>
        </p:nvSpPr>
        <p:spPr>
          <a:xfrm>
            <a:off x="54864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① Annulus</a:t>
            </a:r>
            <a:endParaRPr lang="en-US" sz="1600" dirty="0"/>
          </a:p>
        </p:txBody>
      </p:sp>
      <p:sp>
        <p:nvSpPr>
          <p:cNvPr id="7" name="volume value"/>
          <p:cNvSpPr txBox="1"/>
          <p:nvPr/>
        </p:nvSpPr>
        <p:spPr>
          <a:xfrm>
            <a:off x="393192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7.86 m³</a:t>
            </a:r>
            <a:endParaRPr lang="en-US" sz="1600" dirty="0"/>
          </a:p>
        </p:txBody>
      </p:sp>
      <p:sp>
        <p:nvSpPr>
          <p:cNvPr id="8" name="volume working"/>
          <p:cNvSpPr txBox="1"/>
          <p:nvPr/>
        </p:nvSpPr>
        <p:spPr>
          <a:xfrm>
            <a:off x="54864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(778 − 578) 200 m × 29.10 × 1.35</a:t>
            </a:r>
            <a:endParaRPr lang="en-US" sz="1300" dirty="0"/>
          </a:p>
        </p:txBody>
      </p:sp>
      <p:sp>
        <p:nvSpPr>
          <p:cNvPr id="9" name="volume label"/>
          <p:cNvSpPr txBox="1"/>
          <p:nvPr/>
        </p:nvSpPr>
        <p:spPr>
          <a:xfrm>
            <a:off x="54864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② Shoe track</a:t>
            </a:r>
            <a:endParaRPr lang="en-US" sz="1600" dirty="0"/>
          </a:p>
        </p:txBody>
      </p:sp>
      <p:sp>
        <p:nvSpPr>
          <p:cNvPr id="10" name="volume value"/>
          <p:cNvSpPr txBox="1"/>
          <p:nvPr/>
        </p:nvSpPr>
        <p:spPr>
          <a:xfrm>
            <a:off x="393192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0.57 m³</a:t>
            </a:r>
            <a:endParaRPr lang="en-US" sz="1600" dirty="0"/>
          </a:p>
        </p:txBody>
      </p:sp>
      <p:sp>
        <p:nvSpPr>
          <p:cNvPr id="11" name="volume working"/>
          <p:cNvSpPr txBox="1"/>
          <p:nvPr/>
        </p:nvSpPr>
        <p:spPr>
          <a:xfrm>
            <a:off x="548640" y="3291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(778 − 763.9) 14.1 m × 40.32</a:t>
            </a:r>
            <a:endParaRPr lang="en-US" sz="1300" dirty="0"/>
          </a:p>
        </p:txBody>
      </p:sp>
      <p:sp>
        <p:nvSpPr>
          <p:cNvPr id="12" name="volume label"/>
          <p:cNvSpPr txBox="1"/>
          <p:nvPr/>
        </p:nvSpPr>
        <p:spPr>
          <a:xfrm>
            <a:off x="54864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③ Rat hole</a:t>
            </a:r>
            <a:endParaRPr lang="en-US" sz="1600" dirty="0"/>
          </a:p>
        </p:txBody>
      </p:sp>
      <p:sp>
        <p:nvSpPr>
          <p:cNvPr id="13" name="volume value"/>
          <p:cNvSpPr txBox="1"/>
          <p:nvPr/>
        </p:nvSpPr>
        <p:spPr>
          <a:xfrm>
            <a:off x="3931920" y="3794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0.41 m³</a:t>
            </a:r>
            <a:endParaRPr lang="en-US" sz="1600" dirty="0"/>
          </a:p>
        </p:txBody>
      </p:sp>
      <p:sp>
        <p:nvSpPr>
          <p:cNvPr id="14" name="volume working"/>
          <p:cNvSpPr txBox="1"/>
          <p:nvPr/>
        </p:nvSpPr>
        <p:spPr>
          <a:xfrm>
            <a:off x="548640" y="4160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(782 − 778) 4 m × 76.04 × 1.35</a:t>
            </a:r>
            <a:endParaRPr lang="en-US" sz="1300" dirty="0"/>
          </a:p>
        </p:txBody>
      </p:sp>
      <p:sp>
        <p:nvSpPr>
          <p:cNvPr id="15" name="total box"/>
          <p:cNvSpPr/>
          <p:nvPr/>
        </p:nvSpPr>
        <p:spPr>
          <a:xfrm>
            <a:off x="548640" y="4846320"/>
            <a:ext cx="475488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otal text"/>
          <p:cNvSpPr txBox="1"/>
          <p:nvPr/>
        </p:nvSpPr>
        <p:spPr>
          <a:xfrm>
            <a:off x="777240" y="48463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Total cement  </a:t>
            </a:r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8.84 m³</a:t>
            </a:r>
            <a:endParaRPr lang="en-US" sz="1800" dirty="0"/>
          </a:p>
        </p:txBody>
      </p:sp>
      <p:sp>
        <p:nvSpPr>
          <p:cNvPr id="17" name="Well schematic: TOC 578, float collar 763.9, shoe 778, TD 782 frame"/>
          <p:cNvSpPr/>
          <p:nvPr/>
        </p:nvSpPr>
        <p:spPr>
          <a:xfrm>
            <a:off x="5669280" y="1325880"/>
            <a:ext cx="2880360" cy="48006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8" name="Well schematic: TOC 578, float collar 763.9, shoe 778, TD 782" descr="Well schematic: TOC 578, float collar 763.9, shoe 778, TD 78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756516"/>
            <a:ext cx="2660904" cy="3939327"/>
          </a:xfrm>
          <a:prstGeom prst="rect">
            <a:avLst/>
          </a:prstGeom>
        </p:spPr>
      </p:pic>
      <p:sp>
        <p:nvSpPr>
          <p:cNvPr id="19" name="Cement volumes list totalling 8.84 cubic metres frame"/>
          <p:cNvSpPr/>
          <p:nvPr/>
        </p:nvSpPr>
        <p:spPr>
          <a:xfrm>
            <a:off x="8732520" y="1325880"/>
            <a:ext cx="2880360" cy="37490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0" name="Cement volumes list totalling 8.84 cubic metres" descr="Cement volumes list totalling 8.84 cubic metr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248" y="1658116"/>
            <a:ext cx="2660904" cy="30845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Displacement and rig pump strokes</a:t>
            </a:r>
            <a:endParaRPr lang="en-US" sz="3200" dirty="0"/>
          </a:p>
        </p:txBody>
      </p:sp>
      <p:sp>
        <p:nvSpPr>
          <p:cNvPr id="3" name="step badge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number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5" name="step label"/>
          <p:cNvSpPr txBox="1"/>
          <p:nvPr/>
        </p:nvSpPr>
        <p:spPr>
          <a:xfrm>
            <a:off x="1143000" y="1325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STEP 4 · DISPLACEMENT</a:t>
            </a:r>
            <a:endParaRPr lang="en-US" sz="1400" dirty="0"/>
          </a:p>
        </p:txBody>
      </p:sp>
      <p:sp>
        <p:nvSpPr>
          <p:cNvPr id="6" name="stat value"/>
          <p:cNvSpPr txBox="1"/>
          <p:nvPr/>
        </p:nvSpPr>
        <p:spPr>
          <a:xfrm>
            <a:off x="54864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30.80 m³</a:t>
            </a:r>
            <a:endParaRPr lang="en-US" sz="3400" dirty="0"/>
          </a:p>
        </p:txBody>
      </p:sp>
      <p:sp>
        <p:nvSpPr>
          <p:cNvPr id="7" name="stat label"/>
          <p:cNvSpPr txBox="1"/>
          <p:nvPr/>
        </p:nvSpPr>
        <p:spPr>
          <a:xfrm>
            <a:off x="3017520" y="2011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Displacement to float collar</a:t>
            </a:r>
            <a:endParaRPr lang="en-US" sz="1600" dirty="0"/>
          </a:p>
        </p:txBody>
      </p:sp>
      <p:sp>
        <p:nvSpPr>
          <p:cNvPr id="8" name="stat working"/>
          <p:cNvSpPr txBox="1"/>
          <p:nvPr/>
        </p:nvSpPr>
        <p:spPr>
          <a:xfrm>
            <a:off x="3017520" y="2395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763.9 m × 40.32 L/m</a:t>
            </a:r>
            <a:endParaRPr lang="en-US" sz="1300" dirty="0"/>
          </a:p>
        </p:txBody>
      </p:sp>
      <p:sp>
        <p:nvSpPr>
          <p:cNvPr id="9" name="stat value"/>
          <p:cNvSpPr txBox="1"/>
          <p:nvPr/>
        </p:nvSpPr>
        <p:spPr>
          <a:xfrm>
            <a:off x="548640" y="3383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29.21 m³</a:t>
            </a:r>
            <a:endParaRPr lang="en-US" sz="3400" dirty="0"/>
          </a:p>
        </p:txBody>
      </p:sp>
      <p:sp>
        <p:nvSpPr>
          <p:cNvPr id="10" name="stat label"/>
          <p:cNvSpPr txBox="1"/>
          <p:nvPr/>
        </p:nvSpPr>
        <p:spPr>
          <a:xfrm>
            <a:off x="3017520" y="33832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By rig pump</a:t>
            </a:r>
            <a:endParaRPr lang="en-US" sz="1600" dirty="0"/>
          </a:p>
        </p:txBody>
      </p:sp>
      <p:sp>
        <p:nvSpPr>
          <p:cNvPr id="11" name="stat working"/>
          <p:cNvSpPr txBox="1"/>
          <p:nvPr/>
        </p:nvSpPr>
        <p:spPr>
          <a:xfrm>
            <a:off x="3017520" y="37673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30.80 − 1.59 m³ by cement unit</a:t>
            </a:r>
            <a:endParaRPr lang="en-US" sz="1300" dirty="0"/>
          </a:p>
        </p:txBody>
      </p:sp>
      <p:sp>
        <p:nvSpPr>
          <p:cNvPr id="12" name="stat value"/>
          <p:cNvSpPr txBox="1"/>
          <p:nvPr/>
        </p:nvSpPr>
        <p:spPr>
          <a:xfrm>
            <a:off x="548640" y="4754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2,145</a:t>
            </a:r>
            <a:endParaRPr lang="en-US" sz="3400" dirty="0"/>
          </a:p>
        </p:txBody>
      </p:sp>
      <p:sp>
        <p:nvSpPr>
          <p:cNvPr id="13" name="stat label"/>
          <p:cNvSpPr txBox="1"/>
          <p:nvPr/>
        </p:nvSpPr>
        <p:spPr>
          <a:xfrm>
            <a:off x="3017520" y="4754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Rig strokes</a:t>
            </a:r>
            <a:endParaRPr lang="en-US" sz="1600" dirty="0"/>
          </a:p>
        </p:txBody>
      </p:sp>
      <p:sp>
        <p:nvSpPr>
          <p:cNvPr id="14" name="stat working"/>
          <p:cNvSpPr txBox="1"/>
          <p:nvPr/>
        </p:nvSpPr>
        <p:spPr>
          <a:xfrm>
            <a:off x="3017520" y="51389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29,210 L ÷ 13.62 L/stk</a:t>
            </a:r>
            <a:endParaRPr lang="en-US" sz="1300" dirty="0"/>
          </a:p>
        </p:txBody>
      </p:sp>
      <p:sp>
        <p:nvSpPr>
          <p:cNvPr id="15" name="Displacement card with cement unit volume and rig strokes frame"/>
          <p:cNvSpPr/>
          <p:nvPr/>
        </p:nvSpPr>
        <p:spPr>
          <a:xfrm>
            <a:off x="6400800" y="1325880"/>
            <a:ext cx="5212080" cy="48006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Displacement card with cement unit volume and rig strokes" descr="Displacement card with cement unit volume and rig strok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4230" y="1435608"/>
            <a:ext cx="3805219" cy="45811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Slurry, mix water and additives</a:t>
            </a:r>
            <a:endParaRPr lang="en-US" sz="3200" dirty="0"/>
          </a:p>
        </p:txBody>
      </p:sp>
      <p:sp>
        <p:nvSpPr>
          <p:cNvPr id="3" name="step badge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number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5" name="step label"/>
          <p:cNvSpPr txBox="1"/>
          <p:nvPr/>
        </p:nvSpPr>
        <p:spPr>
          <a:xfrm>
            <a:off x="1143000" y="1325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STEP 5 · SLURRY</a:t>
            </a:r>
            <a:endParaRPr lang="en-US" sz="1400" dirty="0"/>
          </a:p>
        </p:txBody>
      </p:sp>
      <p:graphicFrame>
        <p:nvGraphicFramePr>
          <p:cNvPr id="12" name="slur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60350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01752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51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51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51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 cement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4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8.84 m³ ÷ 0.702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12.59 MT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fluid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4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12.59 × 0.382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4.81 m³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water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4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4.81 − 0.025 liquid additives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4.78 m³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4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12.59 × 2 L/MT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 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CFL100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4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 BWOC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62.9 kg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CD200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5A4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 BWOC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 kg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</a:tr>
            </a:tbl>
          </a:graphicData>
        </a:graphic>
      </p:graphicFrame>
      <p:sp>
        <p:nvSpPr>
          <p:cNvPr id="7" name="additive note"/>
          <p:cNvSpPr txBox="1"/>
          <p:nvPr/>
        </p:nvSpPr>
        <p:spPr>
          <a:xfrm>
            <a:off x="548640" y="54406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Additive doses go in as written in the program — L/MT, kg/MT or % BWOC — and the tool converts them.</a:t>
            </a:r>
            <a:endParaRPr lang="en-US" sz="1400" dirty="0"/>
          </a:p>
        </p:txBody>
      </p:sp>
      <p:sp>
        <p:nvSpPr>
          <p:cNvPr id="8" name="Cement slurry card with dry cement, mix water and three additives frame"/>
          <p:cNvSpPr/>
          <p:nvPr/>
        </p:nvSpPr>
        <p:spPr>
          <a:xfrm>
            <a:off x="7863840" y="1325880"/>
            <a:ext cx="3749040" cy="480060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ement slurry card with dry cement, mix water and three additives" descr="Cement slurry card with dry cement, mix water and three additiv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9210" y="1435608"/>
            <a:ext cx="1798300" cy="45811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One tap: the PDF job sheet</a:t>
            </a:r>
            <a:endParaRPr lang="en-US" sz="3200" dirty="0"/>
          </a:p>
        </p:txBody>
      </p:sp>
      <p:sp>
        <p:nvSpPr>
          <p:cNvPr id="3" name="step badge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tep number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5" name="step label"/>
          <p:cNvSpPr txBox="1"/>
          <p:nvPr/>
        </p:nvSpPr>
        <p:spPr>
          <a:xfrm>
            <a:off x="1143000" y="1325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STEP 6 · PDF</a:t>
            </a:r>
            <a:endParaRPr lang="en-US" sz="1400" dirty="0"/>
          </a:p>
        </p:txBody>
      </p:sp>
      <p:sp>
        <p:nvSpPr>
          <p:cNvPr id="6" name="bullets"/>
          <p:cNvSpPr txBox="1"/>
          <p:nvPr/>
        </p:nvSpPr>
        <p:spPr>
          <a:xfrm>
            <a:off x="548640" y="2057400"/>
            <a:ext cx="3566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Schematic plus the working behind every number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Volumes, displacement with the cement unit, rig strokes, slurry and additives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Well code name, date and author on the page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Saved on the phone, printed or shared for review</a:t>
            </a:r>
            <a:endParaRPr lang="en-US" sz="1500" dirty="0"/>
          </a:p>
        </p:txBody>
      </p:sp>
      <p:sp>
        <p:nvSpPr>
          <p:cNvPr id="7" name="DEMO-101 cement job worksheet PDF frame"/>
          <p:cNvSpPr/>
          <p:nvPr/>
        </p:nvSpPr>
        <p:spPr>
          <a:xfrm>
            <a:off x="4389120" y="1325880"/>
            <a:ext cx="722376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DEMO-101 cement job worksheet PDF" descr="DEMO-101 cement job worksheet PD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4109" y="1435608"/>
            <a:ext cx="6893783" cy="462686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Checked against the hand calculation</a:t>
            </a:r>
            <a:endParaRPr lang="en-US" sz="3200" dirty="0"/>
          </a:p>
        </p:txBody>
      </p:sp>
      <p:graphicFrame>
        <p:nvGraphicFramePr>
          <p:cNvPr id="14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194560"/>
                <a:gridCol w="21945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51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 sheet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51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511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Annulus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7.857 m³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7.86 m³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Shoe track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0.534 m³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 m³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 hole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0.410 m³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 m³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 m³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8.84 m³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 cement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12.53 MT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12.59 MT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fluid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4.79 m³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4.81 m³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CDF / CFL100 / CD200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L / 63 / 50 kg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 L / 62.9 / 50.4 kg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Displacement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30.255 m³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30.80 m³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0E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 strokes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31A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gaps card"/>
          <p:cNvSpPr/>
          <p:nvPr/>
        </p:nvSpPr>
        <p:spPr>
          <a:xfrm>
            <a:off x="7863840" y="1371600"/>
            <a:ext cx="3749040" cy="4389120"/>
          </a:xfrm>
          <a:prstGeom prst="roundRect">
            <a:avLst>
              <a:gd name="adj" fmla="val 36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heck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691640"/>
            <a:ext cx="457200" cy="457200"/>
          </a:xfrm>
          <a:prstGeom prst="rect">
            <a:avLst/>
          </a:prstGeom>
        </p:spPr>
      </p:pic>
      <p:sp>
        <p:nvSpPr>
          <p:cNvPr id="6" name="gaps title"/>
          <p:cNvSpPr txBox="1"/>
          <p:nvPr/>
        </p:nvSpPr>
        <p:spPr>
          <a:xfrm>
            <a:off x="8183880" y="2286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small gaps come from</a:t>
            </a:r>
            <a:endParaRPr lang="en-US" sz="2000" dirty="0"/>
          </a:p>
        </p:txBody>
      </p:sp>
      <p:sp>
        <p:nvSpPr>
          <p:cNvPr id="7" name="bullets"/>
          <p:cNvSpPr txBox="1"/>
          <p:nvPr/>
        </p:nvSpPr>
        <p:spPr>
          <a:xfrm>
            <a:off x="8183880" y="310896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Casing data: the hand sheet used 39.55 L/m (9⅝‑in 40#); the PDO sheet gives 40.32 L/m for 9⅝‑in 36#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Rounding on paper: shoe track 13.5 m vs 14.1 m, displacement to 765 m vs 763.9 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Benefits for the PE and the operation</a:t>
            </a:r>
            <a:endParaRPr lang="en-US" sz="3200" dirty="0"/>
          </a:p>
        </p:txBody>
      </p:sp>
      <p:sp>
        <p:nvSpPr>
          <p:cNvPr id="3" name="benefit stat card"/>
          <p:cNvSpPr/>
          <p:nvPr/>
        </p:nvSpPr>
        <p:spPr>
          <a:xfrm>
            <a:off x="548640" y="1417320"/>
            <a:ext cx="2606040" cy="2103120"/>
          </a:xfrm>
          <a:prstGeom prst="roundRect">
            <a:avLst>
              <a:gd name="adj" fmla="val 6522"/>
            </a:avLst>
          </a:prstGeom>
          <a:solidFill>
            <a:srgbClr val="A5511F"/>
          </a:solidFill>
          <a:ln w="12700">
            <a:solidFill>
              <a:srgbClr val="A5511F"/>
            </a:solidFill>
            <a:prstDash val="solid"/>
          </a:ln>
        </p:spPr>
      </p:sp>
      <p:sp>
        <p:nvSpPr>
          <p:cNvPr id="4" name="benefit stat"/>
          <p:cNvSpPr txBox="1"/>
          <p:nvPr/>
        </p:nvSpPr>
        <p:spPr>
          <a:xfrm>
            <a:off x="777240" y="16002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</a:t>
            </a:r>
            <a:endParaRPr lang="en-US" sz="3600" dirty="0"/>
          </a:p>
        </p:txBody>
      </p:sp>
      <p:sp>
        <p:nvSpPr>
          <p:cNvPr id="5" name="benefit label"/>
          <p:cNvSpPr txBox="1"/>
          <p:nvPr/>
        </p:nvSpPr>
        <p:spPr>
          <a:xfrm>
            <a:off x="777240" y="25146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for the full calculation, on the phone</a:t>
            </a:r>
            <a:endParaRPr lang="en-US" sz="1500" dirty="0"/>
          </a:p>
        </p:txBody>
      </p:sp>
      <p:sp>
        <p:nvSpPr>
          <p:cNvPr id="6" name="benefit stat card"/>
          <p:cNvSpPr/>
          <p:nvPr/>
        </p:nvSpPr>
        <p:spPr>
          <a:xfrm>
            <a:off x="3383280" y="1417320"/>
            <a:ext cx="260604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benefit stat"/>
          <p:cNvSpPr txBox="1"/>
          <p:nvPr/>
        </p:nvSpPr>
        <p:spPr>
          <a:xfrm>
            <a:off x="3611880" y="16002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8" name="benefit label"/>
          <p:cNvSpPr txBox="1"/>
          <p:nvPr/>
        </p:nvSpPr>
        <p:spPr>
          <a:xfrm>
            <a:off x="3611880" y="25146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manual rounding — exact depths and PDO data</a:t>
            </a:r>
            <a:endParaRPr lang="en-US" sz="1500" dirty="0"/>
          </a:p>
        </p:txBody>
      </p:sp>
      <p:sp>
        <p:nvSpPr>
          <p:cNvPr id="9" name="benefit stat card"/>
          <p:cNvSpPr/>
          <p:nvPr/>
        </p:nvSpPr>
        <p:spPr>
          <a:xfrm>
            <a:off x="6217920" y="1417320"/>
            <a:ext cx="260604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enefit stat"/>
          <p:cNvSpPr txBox="1"/>
          <p:nvPr/>
        </p:nvSpPr>
        <p:spPr>
          <a:xfrm>
            <a:off x="6446520" y="16002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page</a:t>
            </a:r>
            <a:endParaRPr lang="en-US" sz="3600" dirty="0"/>
          </a:p>
        </p:txBody>
      </p:sp>
      <p:sp>
        <p:nvSpPr>
          <p:cNvPr id="11" name="benefit label"/>
          <p:cNvSpPr txBox="1"/>
          <p:nvPr/>
        </p:nvSpPr>
        <p:spPr>
          <a:xfrm>
            <a:off x="6446520" y="25146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PDF job sheet, every step shown</a:t>
            </a:r>
            <a:endParaRPr lang="en-US" sz="1500" dirty="0"/>
          </a:p>
        </p:txBody>
      </p:sp>
      <p:sp>
        <p:nvSpPr>
          <p:cNvPr id="12" name="benefit stat card"/>
          <p:cNvSpPr/>
          <p:nvPr/>
        </p:nvSpPr>
        <p:spPr>
          <a:xfrm>
            <a:off x="9052560" y="1417320"/>
            <a:ext cx="2606040" cy="2103120"/>
          </a:xfrm>
          <a:prstGeom prst="roundRect">
            <a:avLst>
              <a:gd name="adj" fmla="val 65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enefit stat"/>
          <p:cNvSpPr txBox="1"/>
          <p:nvPr/>
        </p:nvSpPr>
        <p:spPr>
          <a:xfrm>
            <a:off x="9281160" y="16002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cost</a:t>
            </a:r>
            <a:endParaRPr lang="en-US" sz="3600" dirty="0"/>
          </a:p>
        </p:txBody>
      </p:sp>
      <p:sp>
        <p:nvSpPr>
          <p:cNvPr id="14" name="benefit label"/>
          <p:cNvSpPr txBox="1"/>
          <p:nvPr/>
        </p:nvSpPr>
        <p:spPr>
          <a:xfrm>
            <a:off x="9281160" y="25146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built in-house, no software purchase</a:t>
            </a:r>
            <a:endParaRPr lang="en-US" sz="1500" dirty="0"/>
          </a:p>
        </p:txBody>
      </p:sp>
      <p:sp>
        <p:nvSpPr>
          <p:cNvPr id="15" name="benefit Safety circle"/>
          <p:cNvSpPr/>
          <p:nvPr/>
        </p:nvSpPr>
        <p:spPr>
          <a:xfrm>
            <a:off x="548640" y="3931920"/>
            <a:ext cx="777240" cy="77724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benefit Safet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126230"/>
            <a:ext cx="388620" cy="388620"/>
          </a:xfrm>
          <a:prstGeom prst="rect">
            <a:avLst/>
          </a:prstGeom>
        </p:spPr>
      </p:pic>
      <p:sp>
        <p:nvSpPr>
          <p:cNvPr id="17" name="benefit title"/>
          <p:cNvSpPr txBox="1"/>
          <p:nvPr/>
        </p:nvSpPr>
        <p:spPr>
          <a:xfrm>
            <a:off x="1508760" y="39319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1800" dirty="0"/>
          </a:p>
        </p:txBody>
      </p:sp>
      <p:sp>
        <p:nvSpPr>
          <p:cNvPr id="18" name="benefit text"/>
          <p:cNvSpPr txBox="1"/>
          <p:nvPr/>
        </p:nvSpPr>
        <p:spPr>
          <a:xfrm>
            <a:off x="1508760" y="434340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Correct displacement and strokes lower the risk of over- or under-displacing the cement.</a:t>
            </a:r>
            <a:endParaRPr lang="en-US" sz="1400" dirty="0"/>
          </a:p>
        </p:txBody>
      </p:sp>
      <p:sp>
        <p:nvSpPr>
          <p:cNvPr id="19" name="benefit Standardisation circle"/>
          <p:cNvSpPr/>
          <p:nvPr/>
        </p:nvSpPr>
        <p:spPr>
          <a:xfrm>
            <a:off x="4297680" y="3931920"/>
            <a:ext cx="777240" cy="77724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0" name="benefit Standardisatio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4126230"/>
            <a:ext cx="388620" cy="388620"/>
          </a:xfrm>
          <a:prstGeom prst="rect">
            <a:avLst/>
          </a:prstGeom>
        </p:spPr>
      </p:pic>
      <p:sp>
        <p:nvSpPr>
          <p:cNvPr id="21" name="benefit title"/>
          <p:cNvSpPr txBox="1"/>
          <p:nvPr/>
        </p:nvSpPr>
        <p:spPr>
          <a:xfrm>
            <a:off x="5257800" y="39319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Standardisation</a:t>
            </a:r>
            <a:endParaRPr lang="en-US" sz="1800" dirty="0"/>
          </a:p>
        </p:txBody>
      </p:sp>
      <p:sp>
        <p:nvSpPr>
          <p:cNvPr id="22" name="benefit text"/>
          <p:cNvSpPr txBox="1"/>
          <p:nvPr/>
        </p:nvSpPr>
        <p:spPr>
          <a:xfrm>
            <a:off x="5257800" y="434340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Same method and layout for every job and every PE; easy for the supervisor to check.</a:t>
            </a:r>
            <a:endParaRPr lang="en-US" sz="1400" dirty="0"/>
          </a:p>
        </p:txBody>
      </p:sp>
      <p:sp>
        <p:nvSpPr>
          <p:cNvPr id="23" name="benefit Data privacy circle"/>
          <p:cNvSpPr/>
          <p:nvPr/>
        </p:nvSpPr>
        <p:spPr>
          <a:xfrm>
            <a:off x="8046720" y="3931920"/>
            <a:ext cx="777240" cy="77724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4" name="benefit Data privac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0" y="4126230"/>
            <a:ext cx="388620" cy="388620"/>
          </a:xfrm>
          <a:prstGeom prst="rect">
            <a:avLst/>
          </a:prstGeom>
        </p:spPr>
      </p:pic>
      <p:sp>
        <p:nvSpPr>
          <p:cNvPr id="25" name="benefit title"/>
          <p:cNvSpPr txBox="1"/>
          <p:nvPr/>
        </p:nvSpPr>
        <p:spPr>
          <a:xfrm>
            <a:off x="9006840" y="39319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privacy</a:t>
            </a:r>
            <a:endParaRPr lang="en-US" sz="1800" dirty="0"/>
          </a:p>
        </p:txBody>
      </p:sp>
      <p:sp>
        <p:nvSpPr>
          <p:cNvPr id="26" name="benefit text"/>
          <p:cNvSpPr txBox="1"/>
          <p:nvPr/>
        </p:nvSpPr>
        <p:spPr>
          <a:xfrm>
            <a:off x="9006840" y="434340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server: all data stays on the user's phone, and wells are saved under code names.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Next steps and support needed</a:t>
            </a:r>
            <a:endParaRPr lang="en-US" sz="3200" dirty="0"/>
          </a:p>
        </p:txBody>
      </p:sp>
      <p:sp>
        <p:nvSpPr>
          <p:cNvPr id="3" name="next step badge"/>
          <p:cNvSpPr/>
          <p:nvPr/>
        </p:nvSpPr>
        <p:spPr>
          <a:xfrm>
            <a:off x="54864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next step number"/>
          <p:cNvSpPr txBox="1"/>
          <p:nvPr/>
        </p:nvSpPr>
        <p:spPr>
          <a:xfrm>
            <a:off x="5486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next step connector"/>
          <p:cNvSpPr/>
          <p:nvPr/>
        </p:nvSpPr>
        <p:spPr>
          <a:xfrm>
            <a:off x="1417320" y="2103120"/>
            <a:ext cx="1828800" cy="0"/>
          </a:xfrm>
          <a:prstGeom prst="line">
            <a:avLst/>
          </a:prstGeom>
          <a:noFill/>
          <a:ln w="25400">
            <a:solidFill>
              <a:srgbClr val="D9C7B8"/>
            </a:solidFill>
            <a:prstDash val="solid"/>
          </a:ln>
        </p:spPr>
      </p:sp>
      <p:sp>
        <p:nvSpPr>
          <p:cNvPr id="6" name="next step title"/>
          <p:cNvSpPr txBox="1"/>
          <p:nvPr/>
        </p:nvSpPr>
        <p:spPr>
          <a:xfrm>
            <a:off x="54864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2000" dirty="0"/>
          </a:p>
        </p:txBody>
      </p:sp>
      <p:sp>
        <p:nvSpPr>
          <p:cNvPr id="7" name="next step text"/>
          <p:cNvSpPr txBox="1"/>
          <p:nvPr/>
        </p:nvSpPr>
        <p:spPr>
          <a:xfrm>
            <a:off x="548640" y="32004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Run the tool side by side with the current method on the next cement job</a:t>
            </a:r>
            <a:endParaRPr lang="en-US" sz="1500" dirty="0"/>
          </a:p>
        </p:txBody>
      </p:sp>
      <p:sp>
        <p:nvSpPr>
          <p:cNvPr id="8" name="next step badge"/>
          <p:cNvSpPr/>
          <p:nvPr/>
        </p:nvSpPr>
        <p:spPr>
          <a:xfrm>
            <a:off x="338328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ext step number"/>
          <p:cNvSpPr txBox="1"/>
          <p:nvPr/>
        </p:nvSpPr>
        <p:spPr>
          <a:xfrm>
            <a:off x="33832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next step connector"/>
          <p:cNvSpPr/>
          <p:nvPr/>
        </p:nvSpPr>
        <p:spPr>
          <a:xfrm>
            <a:off x="4251960" y="2103120"/>
            <a:ext cx="1828800" cy="0"/>
          </a:xfrm>
          <a:prstGeom prst="line">
            <a:avLst/>
          </a:prstGeom>
          <a:noFill/>
          <a:ln w="25400">
            <a:solidFill>
              <a:srgbClr val="D9C7B8"/>
            </a:solidFill>
            <a:prstDash val="solid"/>
          </a:ln>
        </p:spPr>
      </p:sp>
      <p:sp>
        <p:nvSpPr>
          <p:cNvPr id="11" name="next step title"/>
          <p:cNvSpPr txBox="1"/>
          <p:nvPr/>
        </p:nvSpPr>
        <p:spPr>
          <a:xfrm>
            <a:off x="338328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2000" dirty="0"/>
          </a:p>
        </p:txBody>
      </p:sp>
      <p:sp>
        <p:nvSpPr>
          <p:cNvPr id="12" name="next step text"/>
          <p:cNvSpPr txBox="1"/>
          <p:nvPr/>
        </p:nvSpPr>
        <p:spPr>
          <a:xfrm>
            <a:off x="3383280" y="32004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Collect comments from PEs, supervisors and the cementing contractor</a:t>
            </a:r>
            <a:endParaRPr lang="en-US" sz="1500" dirty="0"/>
          </a:p>
        </p:txBody>
      </p:sp>
      <p:sp>
        <p:nvSpPr>
          <p:cNvPr id="13" name="next step badge"/>
          <p:cNvSpPr/>
          <p:nvPr/>
        </p:nvSpPr>
        <p:spPr>
          <a:xfrm>
            <a:off x="621792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ext step number"/>
          <p:cNvSpPr txBox="1"/>
          <p:nvPr/>
        </p:nvSpPr>
        <p:spPr>
          <a:xfrm>
            <a:off x="621792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next step connector"/>
          <p:cNvSpPr/>
          <p:nvPr/>
        </p:nvSpPr>
        <p:spPr>
          <a:xfrm>
            <a:off x="7086600" y="2103120"/>
            <a:ext cx="1828800" cy="0"/>
          </a:xfrm>
          <a:prstGeom prst="line">
            <a:avLst/>
          </a:prstGeom>
          <a:noFill/>
          <a:ln w="25400">
            <a:solidFill>
              <a:srgbClr val="D9C7B8"/>
            </a:solidFill>
            <a:prstDash val="solid"/>
          </a:ln>
        </p:spPr>
      </p:sp>
      <p:sp>
        <p:nvSpPr>
          <p:cNvPr id="16" name="next step title"/>
          <p:cNvSpPr txBox="1"/>
          <p:nvPr/>
        </p:nvSpPr>
        <p:spPr>
          <a:xfrm>
            <a:off x="621792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internally</a:t>
            </a:r>
            <a:endParaRPr lang="en-US" sz="2000" dirty="0"/>
          </a:p>
        </p:txBody>
      </p:sp>
      <p:sp>
        <p:nvSpPr>
          <p:cNvPr id="17" name="next step text"/>
          <p:cNvSpPr txBox="1"/>
          <p:nvPr/>
        </p:nvSpPr>
        <p:spPr>
          <a:xfrm>
            <a:off x="6217920" y="32004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Move the tool to an approved PDO internal location with IT support</a:t>
            </a:r>
            <a:endParaRPr lang="en-US" sz="1500" dirty="0"/>
          </a:p>
        </p:txBody>
      </p:sp>
      <p:sp>
        <p:nvSpPr>
          <p:cNvPr id="18" name="next step badge"/>
          <p:cNvSpPr/>
          <p:nvPr/>
        </p:nvSpPr>
        <p:spPr>
          <a:xfrm>
            <a:off x="905256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next step number"/>
          <p:cNvSpPr txBox="1"/>
          <p:nvPr/>
        </p:nvSpPr>
        <p:spPr>
          <a:xfrm>
            <a:off x="905256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next step title"/>
          <p:cNvSpPr txBox="1"/>
          <p:nvPr/>
        </p:nvSpPr>
        <p:spPr>
          <a:xfrm>
            <a:off x="905256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 out</a:t>
            </a:r>
            <a:endParaRPr lang="en-US" sz="2000" dirty="0"/>
          </a:p>
        </p:txBody>
      </p:sp>
      <p:sp>
        <p:nvSpPr>
          <p:cNvPr id="21" name="next step text"/>
          <p:cNvSpPr txBox="1"/>
          <p:nvPr/>
        </p:nvSpPr>
        <p:spPr>
          <a:xfrm>
            <a:off x="9052560" y="32004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Share with all wellsite PEs as a standard calculation aid</a:t>
            </a:r>
            <a:endParaRPr lang="en-US" sz="1500" dirty="0"/>
          </a:p>
        </p:txBody>
      </p:sp>
      <p:sp>
        <p:nvSpPr>
          <p:cNvPr id="22" name="ask box"/>
          <p:cNvSpPr/>
          <p:nvPr/>
        </p:nvSpPr>
        <p:spPr>
          <a:xfrm>
            <a:off x="548640" y="489204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ask text"/>
          <p:cNvSpPr txBox="1"/>
          <p:nvPr/>
        </p:nvSpPr>
        <p:spPr>
          <a:xfrm>
            <a:off x="822960" y="4892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Support requested: 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approval for a pilot on the next cement job, and IT support to host the tool internally.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Questions — and a live demo on the phone</a:t>
            </a:r>
            <a:endParaRPr lang="en-US" sz="2000" dirty="0"/>
          </a:p>
        </p:txBody>
      </p:sp>
      <p:sp>
        <p:nvSpPr>
          <p:cNvPr id="4" name="author"/>
          <p:cNvSpPr txBox="1"/>
          <p:nvPr/>
        </p:nvSpPr>
        <p:spPr>
          <a:xfrm>
            <a:off x="640080" y="5120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Created by Mohammed Al Araimi  ·  MU67673</a:t>
            </a:r>
            <a:endParaRPr lang="en-US" sz="1600" dirty="0"/>
          </a:p>
        </p:txBody>
      </p:sp>
      <p:pic>
        <p:nvPicPr>
          <p:cNvPr id="5" name="pho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10312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ement Job">
  <a:themeElements>
    <a:clrScheme name="Cement Job">
      <a:dk1>
        <a:srgbClr val="231A15"/>
      </a:dk1>
      <a:lt1>
        <a:srgbClr val="FFFFFF"/>
      </a:lt1>
      <a:dk2>
        <a:srgbClr val="5A4E46"/>
      </a:dk2>
      <a:lt2>
        <a:srgbClr val="F6F0EA"/>
      </a:lt2>
      <a:accent1>
        <a:srgbClr val="A5511F"/>
      </a:accent1>
      <a:accent2>
        <a:srgbClr val="0F7A70"/>
      </a:accent2>
      <a:accent3>
        <a:srgbClr val="2563EB"/>
      </a:accent3>
      <a:accent4>
        <a:srgbClr val="D97706"/>
      </a:accent4>
      <a:accent5>
        <a:srgbClr val="7C3AED"/>
      </a:accent5>
      <a:accent6>
        <a:srgbClr val="DB2777"/>
      </a:accent6>
      <a:hlink>
        <a:srgbClr val="A5511F"/>
      </a:hlink>
      <a:folHlink>
        <a:srgbClr val="7C3A12"/>
      </a:folHlink>
    </a:clrScheme>
    <a:fontScheme name="Cement Jo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Cement Job Tool</dc:title>
  <dc:subject>PptxGenJS Presentation</dc:subject>
  <dc:creator>Mohammed Al Araimi</dc:creator>
  <cp:lastModifiedBy>Mohammed Al Araimi</cp:lastModifiedBy>
  <cp:revision>1</cp:revision>
  <dcterms:created xsi:type="dcterms:W3CDTF">2026-10-21T07:36:23Z</dcterms:created>
  <dcterms:modified xsi:type="dcterms:W3CDTF">2026-10-21T07:36:23Z</dcterms:modified>
</cp:coreProperties>
</file>